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1" r:id="rId4"/>
    <p:sldId id="258" r:id="rId5"/>
    <p:sldId id="259" r:id="rId6"/>
    <p:sldId id="263" r:id="rId7"/>
    <p:sldId id="264" r:id="rId8"/>
    <p:sldId id="265" r:id="rId9"/>
    <p:sldId id="266" r:id="rId10"/>
    <p:sldId id="267" r:id="rId11"/>
    <p:sldId id="268" r:id="rId12"/>
    <p:sldId id="269" r:id="rId13"/>
    <p:sldId id="270" r:id="rId14"/>
    <p:sldId id="271" r:id="rId15"/>
    <p:sldId id="27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7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6/12/2026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6/12/2026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BFC3E-9CEE-7F9F-A90A-71938A989DD1}"/>
              </a:ext>
            </a:extLst>
          </p:cNvPr>
          <p:cNvSpPr>
            <a:spLocks noGrp="1"/>
          </p:cNvSpPr>
          <p:nvPr>
            <p:ph type="ctrTitle"/>
          </p:nvPr>
        </p:nvSpPr>
        <p:spPr>
          <a:xfrm>
            <a:off x="664028" y="892237"/>
            <a:ext cx="11582400" cy="1894113"/>
          </a:xfrm>
        </p:spPr>
        <p:txBody>
          <a:bodyPr>
            <a:noAutofit/>
          </a:bodyPr>
          <a:lstStyle/>
          <a:p>
            <a:r>
              <a:rPr lang="en-US" sz="4000" dirty="0">
                <a:latin typeface="Arial Black" panose="020B0A04020102020204" pitchFamily="34" charset="0"/>
              </a:rPr>
              <a:t>SALES PERFORMANCE DASHBOARD</a:t>
            </a:r>
            <a:br>
              <a:rPr lang="en-US" sz="4000" dirty="0">
                <a:latin typeface="Arial Black" panose="020B0A04020102020204" pitchFamily="34" charset="0"/>
              </a:rPr>
            </a:br>
            <a:br>
              <a:rPr lang="en-US" sz="4000" dirty="0">
                <a:latin typeface="Arial Black" panose="020B0A04020102020204" pitchFamily="34" charset="0"/>
              </a:rPr>
            </a:br>
            <a:endParaRPr lang="en-US" sz="4000" dirty="0"/>
          </a:p>
        </p:txBody>
      </p:sp>
      <p:sp>
        <p:nvSpPr>
          <p:cNvPr id="3" name="Subtitle 2">
            <a:extLst>
              <a:ext uri="{FF2B5EF4-FFF2-40B4-BE49-F238E27FC236}">
                <a16:creationId xmlns:a16="http://schemas.microsoft.com/office/drawing/2014/main" id="{48700544-BB39-DD3B-2240-B8DD02F75FDB}"/>
              </a:ext>
            </a:extLst>
          </p:cNvPr>
          <p:cNvSpPr>
            <a:spLocks noGrp="1"/>
          </p:cNvSpPr>
          <p:nvPr>
            <p:ph type="subTitle" idx="1"/>
          </p:nvPr>
        </p:nvSpPr>
        <p:spPr>
          <a:xfrm>
            <a:off x="2110240" y="2318659"/>
            <a:ext cx="8689976" cy="2220686"/>
          </a:xfrm>
        </p:spPr>
        <p:txBody>
          <a:bodyPr>
            <a:noAutofit/>
          </a:bodyPr>
          <a:lstStyle/>
          <a:p>
            <a:r>
              <a:rPr lang="en-US" sz="1800" dirty="0">
                <a:latin typeface="Arial" panose="020B0604020202020204" pitchFamily="34" charset="0"/>
                <a:cs typeface="Arial" panose="020B0604020202020204" pitchFamily="34" charset="0"/>
              </a:rPr>
              <a:t>An interactive Power BI dashboard designed to analyze sales performance, customer behavior, and business trends through data visualization and key performance indicators (KPIs).</a:t>
            </a:r>
            <a:br>
              <a:rPr lang="en-US" sz="1800" dirty="0">
                <a:latin typeface="Arial" panose="020B0604020202020204" pitchFamily="34" charset="0"/>
                <a:cs typeface="Arial" panose="020B0604020202020204" pitchFamily="34" charset="0"/>
              </a:rPr>
            </a:br>
            <a:br>
              <a:rPr lang="en-US" sz="1800" dirty="0"/>
            </a:br>
            <a:r>
              <a:rPr lang="en-US" sz="1800" b="1" dirty="0">
                <a:latin typeface="Arial" panose="020B0604020202020204" pitchFamily="34" charset="0"/>
                <a:cs typeface="Arial" panose="020B0604020202020204" pitchFamily="34" charset="0"/>
              </a:rPr>
              <a:t>Data analytics internship-  project 4</a:t>
            </a:r>
            <a:endParaRPr lang="en-US" sz="1800" dirty="0"/>
          </a:p>
        </p:txBody>
      </p:sp>
      <p:sp>
        <p:nvSpPr>
          <p:cNvPr id="4" name="TextBox 3">
            <a:extLst>
              <a:ext uri="{FF2B5EF4-FFF2-40B4-BE49-F238E27FC236}">
                <a16:creationId xmlns:a16="http://schemas.microsoft.com/office/drawing/2014/main" id="{4B5CA338-0F96-C613-4647-DF3ED24C899B}"/>
              </a:ext>
            </a:extLst>
          </p:cNvPr>
          <p:cNvSpPr txBox="1"/>
          <p:nvPr/>
        </p:nvSpPr>
        <p:spPr>
          <a:xfrm>
            <a:off x="7381367" y="5018706"/>
            <a:ext cx="4636462" cy="369332"/>
          </a:xfrm>
          <a:prstGeom prst="rect">
            <a:avLst/>
          </a:prstGeom>
          <a:noFill/>
        </p:spPr>
        <p:txBody>
          <a:bodyPr wrap="none" rtlCol="0">
            <a:spAutoFit/>
          </a:bodyPr>
          <a:lstStyle/>
          <a:p>
            <a:r>
              <a:rPr lang="en-US" b="1" dirty="0">
                <a:latin typeface="Arial Black" panose="020B0A04020102020204" pitchFamily="34" charset="0"/>
              </a:rPr>
              <a:t>BY: ADEYEMI RUKAYAT ADEKUNMI</a:t>
            </a:r>
          </a:p>
        </p:txBody>
      </p:sp>
    </p:spTree>
    <p:extLst>
      <p:ext uri="{BB962C8B-B14F-4D97-AF65-F5344CB8AC3E}">
        <p14:creationId xmlns:p14="http://schemas.microsoft.com/office/powerpoint/2010/main" val="1487075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6D2D0-45A0-14FB-BDCF-73AB4357182C}"/>
              </a:ext>
            </a:extLst>
          </p:cNvPr>
          <p:cNvSpPr>
            <a:spLocks noGrp="1"/>
          </p:cNvSpPr>
          <p:nvPr>
            <p:ph type="ctrTitle"/>
          </p:nvPr>
        </p:nvSpPr>
        <p:spPr>
          <a:xfrm>
            <a:off x="1751012" y="805544"/>
            <a:ext cx="8689976" cy="794658"/>
          </a:xfrm>
        </p:spPr>
        <p:txBody>
          <a:bodyPr>
            <a:normAutofit/>
          </a:bodyPr>
          <a:lstStyle/>
          <a:p>
            <a:r>
              <a:rPr lang="en-US" sz="4000" dirty="0">
                <a:latin typeface="Arial Black" panose="020B0A04020102020204" pitchFamily="34" charset="0"/>
              </a:rPr>
              <a:t>Methodology</a:t>
            </a:r>
          </a:p>
        </p:txBody>
      </p:sp>
      <p:sp>
        <p:nvSpPr>
          <p:cNvPr id="3" name="Subtitle 2">
            <a:extLst>
              <a:ext uri="{FF2B5EF4-FFF2-40B4-BE49-F238E27FC236}">
                <a16:creationId xmlns:a16="http://schemas.microsoft.com/office/drawing/2014/main" id="{86F87F58-A40D-A99C-BA43-D485B51B0A55}"/>
              </a:ext>
            </a:extLst>
          </p:cNvPr>
          <p:cNvSpPr>
            <a:spLocks noGrp="1"/>
          </p:cNvSpPr>
          <p:nvPr>
            <p:ph type="subTitle" idx="1"/>
          </p:nvPr>
        </p:nvSpPr>
        <p:spPr>
          <a:xfrm>
            <a:off x="326571" y="2057401"/>
            <a:ext cx="11299372" cy="3537856"/>
          </a:xfrm>
        </p:spPr>
        <p:txBody>
          <a:bodyPr>
            <a:noAutofit/>
          </a:bodyPr>
          <a:lstStyle/>
          <a:p>
            <a:pPr algn="just"/>
            <a:r>
              <a:rPr lang="en-US" sz="2400" cap="none" dirty="0">
                <a:latin typeface="Arial" panose="020B0604020202020204" pitchFamily="34" charset="0"/>
                <a:cs typeface="Arial" panose="020B0604020202020204" pitchFamily="34" charset="0"/>
              </a:rPr>
              <a:t>To build this dashboard, I first cleaned and prepared the dataset by checking for duplicates, handling missing values, correcting data types, and ensuring the data was consistent and ready for analysis. After cleaning, I carried out an exploratory data analysis (EDA) to identify patterns, trends, and key statistics. Finally, I used power BI to create an interactive dashboard with KPIs, charts, and slicers to present the findings in a clear and easy to understand format.</a:t>
            </a:r>
          </a:p>
        </p:txBody>
      </p:sp>
    </p:spTree>
    <p:extLst>
      <p:ext uri="{BB962C8B-B14F-4D97-AF65-F5344CB8AC3E}">
        <p14:creationId xmlns:p14="http://schemas.microsoft.com/office/powerpoint/2010/main" val="2016302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67315C-B51B-A6E1-54C7-C5A921655794}"/>
              </a:ext>
            </a:extLst>
          </p:cNvPr>
          <p:cNvPicPr>
            <a:picLocks noChangeAspect="1"/>
          </p:cNvPicPr>
          <p:nvPr/>
        </p:nvPicPr>
        <p:blipFill>
          <a:blip r:embed="rId2"/>
          <a:stretch>
            <a:fillRect/>
          </a:stretch>
        </p:blipFill>
        <p:spPr>
          <a:xfrm>
            <a:off x="141514" y="1230086"/>
            <a:ext cx="11854543" cy="5529942"/>
          </a:xfrm>
          <a:prstGeom prst="rect">
            <a:avLst/>
          </a:prstGeom>
        </p:spPr>
      </p:pic>
      <p:sp>
        <p:nvSpPr>
          <p:cNvPr id="4" name="TextBox 3">
            <a:extLst>
              <a:ext uri="{FF2B5EF4-FFF2-40B4-BE49-F238E27FC236}">
                <a16:creationId xmlns:a16="http://schemas.microsoft.com/office/drawing/2014/main" id="{5585E9EB-54D7-7C89-5CF4-9CFCCA1F3DEB}"/>
              </a:ext>
            </a:extLst>
          </p:cNvPr>
          <p:cNvSpPr txBox="1"/>
          <p:nvPr/>
        </p:nvSpPr>
        <p:spPr>
          <a:xfrm>
            <a:off x="1175657" y="337457"/>
            <a:ext cx="8882743" cy="769441"/>
          </a:xfrm>
          <a:prstGeom prst="rect">
            <a:avLst/>
          </a:prstGeom>
          <a:noFill/>
        </p:spPr>
        <p:txBody>
          <a:bodyPr wrap="square" rtlCol="0">
            <a:spAutoFit/>
          </a:bodyPr>
          <a:lstStyle/>
          <a:p>
            <a:pPr algn="ctr"/>
            <a:r>
              <a:rPr lang="en-US" sz="4400" dirty="0">
                <a:latin typeface="Arial Black" panose="020B0A04020102020204" pitchFamily="34" charset="0"/>
              </a:rPr>
              <a:t> THE DASHBOARD</a:t>
            </a:r>
          </a:p>
        </p:txBody>
      </p:sp>
    </p:spTree>
    <p:extLst>
      <p:ext uri="{BB962C8B-B14F-4D97-AF65-F5344CB8AC3E}">
        <p14:creationId xmlns:p14="http://schemas.microsoft.com/office/powerpoint/2010/main" val="3795714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632A1-7615-7751-3D06-DF3544AB181E}"/>
              </a:ext>
            </a:extLst>
          </p:cNvPr>
          <p:cNvSpPr>
            <a:spLocks noGrp="1"/>
          </p:cNvSpPr>
          <p:nvPr>
            <p:ph type="title"/>
          </p:nvPr>
        </p:nvSpPr>
        <p:spPr>
          <a:xfrm>
            <a:off x="913774" y="828563"/>
            <a:ext cx="10351752" cy="684551"/>
          </a:xfrm>
        </p:spPr>
        <p:txBody>
          <a:bodyPr/>
          <a:lstStyle/>
          <a:p>
            <a:r>
              <a:rPr lang="en-US" dirty="0">
                <a:latin typeface="Arial Black" panose="020B0A04020102020204" pitchFamily="34" charset="0"/>
              </a:rPr>
              <a:t>Dashboard Overview </a:t>
            </a:r>
          </a:p>
        </p:txBody>
      </p:sp>
      <p:sp>
        <p:nvSpPr>
          <p:cNvPr id="3" name="Text Placeholder 2">
            <a:extLst>
              <a:ext uri="{FF2B5EF4-FFF2-40B4-BE49-F238E27FC236}">
                <a16:creationId xmlns:a16="http://schemas.microsoft.com/office/drawing/2014/main" id="{0D48B143-BC00-15AC-A809-2ED22BBA172E}"/>
              </a:ext>
            </a:extLst>
          </p:cNvPr>
          <p:cNvSpPr>
            <a:spLocks noGrp="1"/>
          </p:cNvSpPr>
          <p:nvPr>
            <p:ph type="body" idx="1"/>
          </p:nvPr>
        </p:nvSpPr>
        <p:spPr>
          <a:xfrm>
            <a:off x="337457" y="1687286"/>
            <a:ext cx="11332029" cy="4561113"/>
          </a:xfrm>
        </p:spPr>
        <p:txBody>
          <a:bodyPr>
            <a:noAutofit/>
          </a:bodyPr>
          <a:lstStyle/>
          <a:p>
            <a:pPr algn="just"/>
            <a:r>
              <a:rPr lang="en-US" sz="2400" cap="none" dirty="0">
                <a:latin typeface="Arial" panose="020B0604020202020204" pitchFamily="34" charset="0"/>
                <a:cs typeface="Arial" panose="020B0604020202020204" pitchFamily="34" charset="0"/>
              </a:rPr>
              <a:t>This sales performance dashboard provides an overview of the business by tracking key metrics such as total revenue, total orders, total customers, and average order value. It also highlights sales trends, product performance, referral source performance, payment method preferences, and order status distribution to support data-driven decision-making. Overall, the business generated a total revenue of 1.26m from approximately 1.2k orders placed by about 1.19k customers, with an average order value of 1.05k.</a:t>
            </a:r>
          </a:p>
        </p:txBody>
      </p:sp>
    </p:spTree>
    <p:extLst>
      <p:ext uri="{BB962C8B-B14F-4D97-AF65-F5344CB8AC3E}">
        <p14:creationId xmlns:p14="http://schemas.microsoft.com/office/powerpoint/2010/main" val="953520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79B11-6ED0-841B-CA7E-E0A27EAA5265}"/>
              </a:ext>
            </a:extLst>
          </p:cNvPr>
          <p:cNvSpPr>
            <a:spLocks noGrp="1"/>
          </p:cNvSpPr>
          <p:nvPr>
            <p:ph type="title"/>
          </p:nvPr>
        </p:nvSpPr>
        <p:spPr>
          <a:xfrm>
            <a:off x="913774" y="828564"/>
            <a:ext cx="10351752" cy="902266"/>
          </a:xfrm>
        </p:spPr>
        <p:txBody>
          <a:bodyPr/>
          <a:lstStyle/>
          <a:p>
            <a:r>
              <a:rPr lang="en-US" dirty="0">
                <a:latin typeface="Arial Black" panose="020B0A04020102020204" pitchFamily="34" charset="0"/>
              </a:rPr>
              <a:t>KPI Summary</a:t>
            </a:r>
          </a:p>
        </p:txBody>
      </p:sp>
      <p:sp>
        <p:nvSpPr>
          <p:cNvPr id="3" name="Text Placeholder 2">
            <a:extLst>
              <a:ext uri="{FF2B5EF4-FFF2-40B4-BE49-F238E27FC236}">
                <a16:creationId xmlns:a16="http://schemas.microsoft.com/office/drawing/2014/main" id="{62940CE7-92A3-9F48-A666-36332CF29F4E}"/>
              </a:ext>
            </a:extLst>
          </p:cNvPr>
          <p:cNvSpPr>
            <a:spLocks noGrp="1"/>
          </p:cNvSpPr>
          <p:nvPr>
            <p:ph type="body" idx="1"/>
          </p:nvPr>
        </p:nvSpPr>
        <p:spPr>
          <a:xfrm>
            <a:off x="348344" y="3657457"/>
            <a:ext cx="10917182" cy="2547400"/>
          </a:xfrm>
        </p:spPr>
        <p:txBody>
          <a:bodyPr>
            <a:noAutofit/>
          </a:bodyPr>
          <a:lstStyle/>
          <a:p>
            <a:pPr algn="just"/>
            <a:endParaRPr lang="en-US" sz="2400" cap="none" dirty="0">
              <a:latin typeface="Arial" panose="020B0604020202020204" pitchFamily="34" charset="0"/>
              <a:cs typeface="Arial" panose="020B0604020202020204" pitchFamily="34" charset="0"/>
            </a:endParaRPr>
          </a:p>
          <a:p>
            <a:pPr algn="just"/>
            <a:r>
              <a:rPr lang="en-US" sz="2400" cap="none" dirty="0">
                <a:latin typeface="Arial" panose="020B0604020202020204" pitchFamily="34" charset="0"/>
                <a:cs typeface="Arial" panose="020B0604020202020204" pitchFamily="34" charset="0"/>
              </a:rPr>
              <a:t>The dashboard shows that the business recorded a total revenue of 1.26M, generated from approximately 1.2K orders by 1.19K customers. The average order value of 1.05K indicates the average amount spent per transaction.</a:t>
            </a:r>
          </a:p>
        </p:txBody>
      </p:sp>
      <p:sp>
        <p:nvSpPr>
          <p:cNvPr id="4" name="Rectangle: Rounded Corners 3">
            <a:extLst>
              <a:ext uri="{FF2B5EF4-FFF2-40B4-BE49-F238E27FC236}">
                <a16:creationId xmlns:a16="http://schemas.microsoft.com/office/drawing/2014/main" id="{9DB8D087-E243-F688-9D4F-1F886858BACA}"/>
              </a:ext>
            </a:extLst>
          </p:cNvPr>
          <p:cNvSpPr/>
          <p:nvPr/>
        </p:nvSpPr>
        <p:spPr>
          <a:xfrm>
            <a:off x="348344" y="2024743"/>
            <a:ext cx="2275114" cy="1368183"/>
          </a:xfrm>
          <a:prstGeom prst="roundRect">
            <a:avLst/>
          </a:prstGeom>
          <a:solidFill>
            <a:srgbClr val="FF97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19ABEECE-AB2B-8FEA-6C22-0DCAC99D0D54}"/>
              </a:ext>
            </a:extLst>
          </p:cNvPr>
          <p:cNvSpPr/>
          <p:nvPr/>
        </p:nvSpPr>
        <p:spPr>
          <a:xfrm>
            <a:off x="3407229" y="2010052"/>
            <a:ext cx="2427514" cy="1368183"/>
          </a:xfrm>
          <a:prstGeom prst="roundRect">
            <a:avLst/>
          </a:prstGeom>
          <a:solidFill>
            <a:srgbClr val="FF97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092DF0D2-C743-149E-2D60-C9FB9C0FE7C4}"/>
              </a:ext>
            </a:extLst>
          </p:cNvPr>
          <p:cNvSpPr/>
          <p:nvPr/>
        </p:nvSpPr>
        <p:spPr>
          <a:xfrm>
            <a:off x="6324600" y="1986042"/>
            <a:ext cx="2275114" cy="1368183"/>
          </a:xfrm>
          <a:prstGeom prst="roundRect">
            <a:avLst/>
          </a:prstGeom>
          <a:solidFill>
            <a:srgbClr val="FF97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F7B1848A-C10F-F26A-72DF-9A3F8D03EB30}"/>
              </a:ext>
            </a:extLst>
          </p:cNvPr>
          <p:cNvSpPr/>
          <p:nvPr/>
        </p:nvSpPr>
        <p:spPr>
          <a:xfrm>
            <a:off x="8871857" y="2024743"/>
            <a:ext cx="2884714" cy="1368183"/>
          </a:xfrm>
          <a:prstGeom prst="roundRect">
            <a:avLst/>
          </a:prstGeom>
          <a:solidFill>
            <a:srgbClr val="FF979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682CF89-C741-CD0E-D4DD-85B9A3D35625}"/>
              </a:ext>
            </a:extLst>
          </p:cNvPr>
          <p:cNvSpPr txBox="1"/>
          <p:nvPr/>
        </p:nvSpPr>
        <p:spPr>
          <a:xfrm>
            <a:off x="544286" y="2318657"/>
            <a:ext cx="1981200" cy="523220"/>
          </a:xfrm>
          <a:prstGeom prst="rect">
            <a:avLst/>
          </a:prstGeom>
          <a:noFill/>
        </p:spPr>
        <p:txBody>
          <a:bodyPr wrap="square" rtlCol="0">
            <a:spAutoFit/>
          </a:bodyPr>
          <a:lstStyle/>
          <a:p>
            <a:pPr algn="ctr"/>
            <a:r>
              <a:rPr lang="en-US" sz="2800" dirty="0">
                <a:latin typeface="Arial Black" panose="020B0A04020102020204" pitchFamily="34" charset="0"/>
              </a:rPr>
              <a:t>1.26M</a:t>
            </a:r>
          </a:p>
        </p:txBody>
      </p:sp>
      <p:sp>
        <p:nvSpPr>
          <p:cNvPr id="9" name="TextBox 8">
            <a:extLst>
              <a:ext uri="{FF2B5EF4-FFF2-40B4-BE49-F238E27FC236}">
                <a16:creationId xmlns:a16="http://schemas.microsoft.com/office/drawing/2014/main" id="{0ACEC42C-95FA-8564-7FB7-D85A0B529A9A}"/>
              </a:ext>
            </a:extLst>
          </p:cNvPr>
          <p:cNvSpPr txBox="1"/>
          <p:nvPr/>
        </p:nvSpPr>
        <p:spPr>
          <a:xfrm>
            <a:off x="348344" y="2950029"/>
            <a:ext cx="2471056" cy="338554"/>
          </a:xfrm>
          <a:prstGeom prst="rect">
            <a:avLst/>
          </a:prstGeom>
          <a:noFill/>
        </p:spPr>
        <p:txBody>
          <a:bodyPr wrap="square" rtlCol="0">
            <a:spAutoFit/>
          </a:bodyPr>
          <a:lstStyle/>
          <a:p>
            <a:r>
              <a:rPr lang="en-US" sz="1600" dirty="0">
                <a:latin typeface="Arial Black" panose="020B0A04020102020204" pitchFamily="34" charset="0"/>
              </a:rPr>
              <a:t>TOTAL REVENUE</a:t>
            </a:r>
          </a:p>
        </p:txBody>
      </p:sp>
      <p:sp>
        <p:nvSpPr>
          <p:cNvPr id="10" name="TextBox 9">
            <a:extLst>
              <a:ext uri="{FF2B5EF4-FFF2-40B4-BE49-F238E27FC236}">
                <a16:creationId xmlns:a16="http://schemas.microsoft.com/office/drawing/2014/main" id="{620C4799-E554-7F11-8570-FBEB02410A61}"/>
              </a:ext>
            </a:extLst>
          </p:cNvPr>
          <p:cNvSpPr txBox="1"/>
          <p:nvPr/>
        </p:nvSpPr>
        <p:spPr>
          <a:xfrm>
            <a:off x="3488872" y="2318657"/>
            <a:ext cx="2068286" cy="523220"/>
          </a:xfrm>
          <a:prstGeom prst="rect">
            <a:avLst/>
          </a:prstGeom>
          <a:noFill/>
        </p:spPr>
        <p:txBody>
          <a:bodyPr wrap="square" rtlCol="0">
            <a:spAutoFit/>
          </a:bodyPr>
          <a:lstStyle/>
          <a:p>
            <a:pPr algn="ctr"/>
            <a:r>
              <a:rPr lang="en-US" sz="2800" dirty="0">
                <a:latin typeface="Arial Black" panose="020B0A04020102020204" pitchFamily="34" charset="0"/>
              </a:rPr>
              <a:t>1.189K</a:t>
            </a:r>
          </a:p>
        </p:txBody>
      </p:sp>
      <p:sp>
        <p:nvSpPr>
          <p:cNvPr id="11" name="TextBox 10">
            <a:extLst>
              <a:ext uri="{FF2B5EF4-FFF2-40B4-BE49-F238E27FC236}">
                <a16:creationId xmlns:a16="http://schemas.microsoft.com/office/drawing/2014/main" id="{A8B5A8FF-BC2D-C5E5-0445-1B7432D33BEB}"/>
              </a:ext>
            </a:extLst>
          </p:cNvPr>
          <p:cNvSpPr txBox="1"/>
          <p:nvPr/>
        </p:nvSpPr>
        <p:spPr>
          <a:xfrm>
            <a:off x="3363687" y="2921742"/>
            <a:ext cx="2471056" cy="338554"/>
          </a:xfrm>
          <a:prstGeom prst="rect">
            <a:avLst/>
          </a:prstGeom>
          <a:noFill/>
        </p:spPr>
        <p:txBody>
          <a:bodyPr wrap="square" rtlCol="0">
            <a:spAutoFit/>
          </a:bodyPr>
          <a:lstStyle/>
          <a:p>
            <a:pPr algn="ctr"/>
            <a:r>
              <a:rPr lang="en-US" sz="1600" dirty="0">
                <a:latin typeface="Arial Black" panose="020B0A04020102020204" pitchFamily="34" charset="0"/>
              </a:rPr>
              <a:t>TOTAL CUSTOMERS</a:t>
            </a:r>
          </a:p>
        </p:txBody>
      </p:sp>
      <p:sp>
        <p:nvSpPr>
          <p:cNvPr id="12" name="TextBox 11">
            <a:extLst>
              <a:ext uri="{FF2B5EF4-FFF2-40B4-BE49-F238E27FC236}">
                <a16:creationId xmlns:a16="http://schemas.microsoft.com/office/drawing/2014/main" id="{EED0E1E2-9DBA-4352-EC2A-E0EE3DD295C6}"/>
              </a:ext>
            </a:extLst>
          </p:cNvPr>
          <p:cNvSpPr txBox="1"/>
          <p:nvPr/>
        </p:nvSpPr>
        <p:spPr>
          <a:xfrm>
            <a:off x="8795656" y="2998010"/>
            <a:ext cx="3030763" cy="338554"/>
          </a:xfrm>
          <a:prstGeom prst="rect">
            <a:avLst/>
          </a:prstGeom>
          <a:noFill/>
        </p:spPr>
        <p:txBody>
          <a:bodyPr wrap="square" rtlCol="0">
            <a:spAutoFit/>
          </a:bodyPr>
          <a:lstStyle/>
          <a:p>
            <a:pPr algn="ctr"/>
            <a:r>
              <a:rPr lang="en-US" sz="1600" dirty="0">
                <a:latin typeface="Arial Black" panose="020B0A04020102020204" pitchFamily="34" charset="0"/>
              </a:rPr>
              <a:t>AVERAGE ORDER VALUE</a:t>
            </a:r>
          </a:p>
        </p:txBody>
      </p:sp>
      <p:sp>
        <p:nvSpPr>
          <p:cNvPr id="13" name="TextBox 12">
            <a:extLst>
              <a:ext uri="{FF2B5EF4-FFF2-40B4-BE49-F238E27FC236}">
                <a16:creationId xmlns:a16="http://schemas.microsoft.com/office/drawing/2014/main" id="{011FA0CC-6EAD-BCE9-AC86-EA944A4700DA}"/>
              </a:ext>
            </a:extLst>
          </p:cNvPr>
          <p:cNvSpPr txBox="1"/>
          <p:nvPr/>
        </p:nvSpPr>
        <p:spPr>
          <a:xfrm>
            <a:off x="6204859" y="2861989"/>
            <a:ext cx="2471056" cy="338554"/>
          </a:xfrm>
          <a:prstGeom prst="rect">
            <a:avLst/>
          </a:prstGeom>
          <a:noFill/>
        </p:spPr>
        <p:txBody>
          <a:bodyPr wrap="square" rtlCol="0">
            <a:spAutoFit/>
          </a:bodyPr>
          <a:lstStyle/>
          <a:p>
            <a:pPr algn="ctr"/>
            <a:r>
              <a:rPr lang="en-US" sz="1600" dirty="0">
                <a:latin typeface="Arial Black" panose="020B0A04020102020204" pitchFamily="34" charset="0"/>
              </a:rPr>
              <a:t>TOTAL ORDERS</a:t>
            </a:r>
          </a:p>
        </p:txBody>
      </p:sp>
      <p:sp>
        <p:nvSpPr>
          <p:cNvPr id="14" name="TextBox 13">
            <a:extLst>
              <a:ext uri="{FF2B5EF4-FFF2-40B4-BE49-F238E27FC236}">
                <a16:creationId xmlns:a16="http://schemas.microsoft.com/office/drawing/2014/main" id="{14B656C6-51FD-1CD0-F566-5BD722FA1BF8}"/>
              </a:ext>
            </a:extLst>
          </p:cNvPr>
          <p:cNvSpPr txBox="1"/>
          <p:nvPr/>
        </p:nvSpPr>
        <p:spPr>
          <a:xfrm>
            <a:off x="9276894" y="2249767"/>
            <a:ext cx="2068286" cy="523220"/>
          </a:xfrm>
          <a:prstGeom prst="rect">
            <a:avLst/>
          </a:prstGeom>
          <a:noFill/>
        </p:spPr>
        <p:txBody>
          <a:bodyPr wrap="square" rtlCol="0">
            <a:spAutoFit/>
          </a:bodyPr>
          <a:lstStyle/>
          <a:p>
            <a:pPr algn="ctr"/>
            <a:r>
              <a:rPr lang="en-US" sz="2800" dirty="0">
                <a:latin typeface="Arial Black" panose="020B0A04020102020204" pitchFamily="34" charset="0"/>
              </a:rPr>
              <a:t>1.05K</a:t>
            </a:r>
          </a:p>
        </p:txBody>
      </p:sp>
      <p:sp>
        <p:nvSpPr>
          <p:cNvPr id="15" name="TextBox 14">
            <a:extLst>
              <a:ext uri="{FF2B5EF4-FFF2-40B4-BE49-F238E27FC236}">
                <a16:creationId xmlns:a16="http://schemas.microsoft.com/office/drawing/2014/main" id="{9F98FD68-6E40-9175-C7B9-69F3DBCE0B4D}"/>
              </a:ext>
            </a:extLst>
          </p:cNvPr>
          <p:cNvSpPr txBox="1"/>
          <p:nvPr/>
        </p:nvSpPr>
        <p:spPr>
          <a:xfrm>
            <a:off x="6428014" y="2318657"/>
            <a:ext cx="2068286" cy="523220"/>
          </a:xfrm>
          <a:prstGeom prst="rect">
            <a:avLst/>
          </a:prstGeom>
          <a:noFill/>
        </p:spPr>
        <p:txBody>
          <a:bodyPr wrap="square" rtlCol="0">
            <a:spAutoFit/>
          </a:bodyPr>
          <a:lstStyle/>
          <a:p>
            <a:pPr algn="ctr"/>
            <a:r>
              <a:rPr lang="en-US" sz="2800" dirty="0">
                <a:latin typeface="Arial Black" panose="020B0A04020102020204" pitchFamily="34" charset="0"/>
              </a:rPr>
              <a:t>1.2K</a:t>
            </a:r>
          </a:p>
        </p:txBody>
      </p:sp>
    </p:spTree>
    <p:extLst>
      <p:ext uri="{BB962C8B-B14F-4D97-AF65-F5344CB8AC3E}">
        <p14:creationId xmlns:p14="http://schemas.microsoft.com/office/powerpoint/2010/main" val="2394792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8C529-0456-7850-C562-C374A939E902}"/>
              </a:ext>
            </a:extLst>
          </p:cNvPr>
          <p:cNvSpPr>
            <a:spLocks noGrp="1"/>
          </p:cNvSpPr>
          <p:nvPr>
            <p:ph type="title"/>
          </p:nvPr>
        </p:nvSpPr>
        <p:spPr>
          <a:xfrm>
            <a:off x="402771" y="609599"/>
            <a:ext cx="4446692" cy="1621971"/>
          </a:xfrm>
        </p:spPr>
        <p:txBody>
          <a:bodyPr>
            <a:noAutofit/>
          </a:bodyPr>
          <a:lstStyle/>
          <a:p>
            <a:r>
              <a:rPr lang="en-US" sz="4000" dirty="0">
                <a:latin typeface="Arial Black" panose="020B0A04020102020204" pitchFamily="34" charset="0"/>
              </a:rPr>
              <a:t>Best-Selling Product</a:t>
            </a:r>
          </a:p>
        </p:txBody>
      </p:sp>
      <p:pic>
        <p:nvPicPr>
          <p:cNvPr id="6" name="Content Placeholder 5">
            <a:extLst>
              <a:ext uri="{FF2B5EF4-FFF2-40B4-BE49-F238E27FC236}">
                <a16:creationId xmlns:a16="http://schemas.microsoft.com/office/drawing/2014/main" id="{941D38A1-0C77-DF54-394C-A6AD62C23F49}"/>
              </a:ext>
            </a:extLst>
          </p:cNvPr>
          <p:cNvPicPr>
            <a:picLocks noGrp="1" noChangeAspect="1"/>
          </p:cNvPicPr>
          <p:nvPr>
            <p:ph sz="quarter" idx="13"/>
          </p:nvPr>
        </p:nvPicPr>
        <p:blipFill>
          <a:blip r:embed="rId2"/>
          <a:stretch>
            <a:fillRect/>
          </a:stretch>
        </p:blipFill>
        <p:spPr>
          <a:xfrm>
            <a:off x="6237514" y="1066801"/>
            <a:ext cx="5889172" cy="5181600"/>
          </a:xfrm>
          <a:prstGeom prst="rect">
            <a:avLst/>
          </a:prstGeom>
        </p:spPr>
      </p:pic>
      <p:sp>
        <p:nvSpPr>
          <p:cNvPr id="4" name="Text Placeholder 3">
            <a:extLst>
              <a:ext uri="{FF2B5EF4-FFF2-40B4-BE49-F238E27FC236}">
                <a16:creationId xmlns:a16="http://schemas.microsoft.com/office/drawing/2014/main" id="{06E8A540-CDD6-8B76-3162-49DF2DA4CB0D}"/>
              </a:ext>
            </a:extLst>
          </p:cNvPr>
          <p:cNvSpPr>
            <a:spLocks noGrp="1"/>
          </p:cNvSpPr>
          <p:nvPr>
            <p:ph type="body" sz="half" idx="2"/>
          </p:nvPr>
        </p:nvSpPr>
        <p:spPr>
          <a:xfrm>
            <a:off x="223580" y="2763480"/>
            <a:ext cx="5872420" cy="2537862"/>
          </a:xfrm>
        </p:spPr>
        <p:txBody>
          <a:bodyPr>
            <a:noAutofit/>
          </a:bodyPr>
          <a:lstStyle/>
          <a:p>
            <a:pPr algn="just"/>
            <a:r>
              <a:rPr lang="en-US" sz="2400" cap="none" dirty="0">
                <a:latin typeface="Arial" panose="020B0604020202020204" pitchFamily="34" charset="0"/>
                <a:cs typeface="Arial" panose="020B0604020202020204" pitchFamily="34" charset="0"/>
              </a:rPr>
              <a:t>Based on quantity sold, chair was the best-selling product with 562 units, followed by printer (542 units) and laptop (535 units). This indicates a strong customer demand for these products.</a:t>
            </a:r>
          </a:p>
          <a:p>
            <a:pPr algn="just"/>
            <a:endParaRPr lang="en-US" sz="2400"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0049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03F44-8C9B-007F-297D-7142BD6A0B4B}"/>
              </a:ext>
            </a:extLst>
          </p:cNvPr>
          <p:cNvSpPr>
            <a:spLocks noGrp="1"/>
          </p:cNvSpPr>
          <p:nvPr>
            <p:ph type="title"/>
          </p:nvPr>
        </p:nvSpPr>
        <p:spPr>
          <a:xfrm>
            <a:off x="478972" y="1110344"/>
            <a:ext cx="5617028" cy="849086"/>
          </a:xfrm>
        </p:spPr>
        <p:txBody>
          <a:bodyPr>
            <a:normAutofit fontScale="90000"/>
          </a:bodyPr>
          <a:lstStyle/>
          <a:p>
            <a:r>
              <a:rPr lang="en-US" sz="4000" dirty="0">
                <a:latin typeface="Arial Black" panose="020B0A04020102020204" pitchFamily="34" charset="0"/>
              </a:rPr>
              <a:t>Referrer Source Performance</a:t>
            </a:r>
          </a:p>
        </p:txBody>
      </p:sp>
      <p:pic>
        <p:nvPicPr>
          <p:cNvPr id="6" name="Content Placeholder 5">
            <a:extLst>
              <a:ext uri="{FF2B5EF4-FFF2-40B4-BE49-F238E27FC236}">
                <a16:creationId xmlns:a16="http://schemas.microsoft.com/office/drawing/2014/main" id="{B14A00FC-89A7-1903-45D8-C8F942BC22B9}"/>
              </a:ext>
            </a:extLst>
          </p:cNvPr>
          <p:cNvPicPr>
            <a:picLocks noGrp="1" noChangeAspect="1"/>
          </p:cNvPicPr>
          <p:nvPr>
            <p:ph sz="quarter" idx="13"/>
          </p:nvPr>
        </p:nvPicPr>
        <p:blipFill>
          <a:blip r:embed="rId2"/>
          <a:stretch>
            <a:fillRect/>
          </a:stretch>
        </p:blipFill>
        <p:spPr>
          <a:xfrm>
            <a:off x="6672943" y="402771"/>
            <a:ext cx="5266067" cy="6161315"/>
          </a:xfrm>
          <a:prstGeom prst="rect">
            <a:avLst/>
          </a:prstGeom>
        </p:spPr>
      </p:pic>
      <p:sp>
        <p:nvSpPr>
          <p:cNvPr id="4" name="Text Placeholder 3">
            <a:extLst>
              <a:ext uri="{FF2B5EF4-FFF2-40B4-BE49-F238E27FC236}">
                <a16:creationId xmlns:a16="http://schemas.microsoft.com/office/drawing/2014/main" id="{7BE3E2E3-37BD-0F75-03B8-FA62A3879413}"/>
              </a:ext>
            </a:extLst>
          </p:cNvPr>
          <p:cNvSpPr>
            <a:spLocks noGrp="1"/>
          </p:cNvSpPr>
          <p:nvPr>
            <p:ph type="body" sz="half" idx="2"/>
          </p:nvPr>
        </p:nvSpPr>
        <p:spPr>
          <a:xfrm>
            <a:off x="222259" y="2253344"/>
            <a:ext cx="6320056" cy="3331027"/>
          </a:xfrm>
        </p:spPr>
        <p:txBody>
          <a:bodyPr>
            <a:noAutofit/>
          </a:bodyPr>
          <a:lstStyle/>
          <a:p>
            <a:pPr algn="just"/>
            <a:r>
              <a:rPr lang="en-US" sz="2400" cap="none" dirty="0">
                <a:latin typeface="Arial" panose="020B0604020202020204" pitchFamily="34" charset="0"/>
                <a:cs typeface="Arial" panose="020B0604020202020204" pitchFamily="34" charset="0"/>
              </a:rPr>
              <a:t>The referral source analysis shows that Instagram generated the highest number of referrals with 259 customers, followed by Email (250) and Google (241). The figures across all channels are relatively close, suggesting that customer acquisition is well distributed across different platforms.</a:t>
            </a:r>
          </a:p>
        </p:txBody>
      </p:sp>
    </p:spTree>
    <p:extLst>
      <p:ext uri="{BB962C8B-B14F-4D97-AF65-F5344CB8AC3E}">
        <p14:creationId xmlns:p14="http://schemas.microsoft.com/office/powerpoint/2010/main" val="4072192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450EB-3284-4B11-7931-9410D154FDBF}"/>
              </a:ext>
            </a:extLst>
          </p:cNvPr>
          <p:cNvSpPr>
            <a:spLocks noGrp="1"/>
          </p:cNvSpPr>
          <p:nvPr>
            <p:ph type="title"/>
          </p:nvPr>
        </p:nvSpPr>
        <p:spPr>
          <a:xfrm>
            <a:off x="141514" y="609600"/>
            <a:ext cx="4707949" cy="1088571"/>
          </a:xfrm>
        </p:spPr>
        <p:txBody>
          <a:bodyPr>
            <a:noAutofit/>
          </a:bodyPr>
          <a:lstStyle/>
          <a:p>
            <a:r>
              <a:rPr lang="en-US" sz="4000" cap="none" dirty="0">
                <a:latin typeface="Arial Black" panose="020B0A04020102020204" pitchFamily="34" charset="0"/>
                <a:cs typeface="Arial" panose="020B0604020202020204" pitchFamily="34" charset="0"/>
              </a:rPr>
              <a:t>SALES TREND</a:t>
            </a:r>
            <a:endParaRPr lang="en-US" sz="4000" dirty="0">
              <a:latin typeface="Arial Black" panose="020B0A04020102020204" pitchFamily="34" charset="0"/>
            </a:endParaRPr>
          </a:p>
        </p:txBody>
      </p:sp>
      <p:pic>
        <p:nvPicPr>
          <p:cNvPr id="6" name="Content Placeholder 5">
            <a:extLst>
              <a:ext uri="{FF2B5EF4-FFF2-40B4-BE49-F238E27FC236}">
                <a16:creationId xmlns:a16="http://schemas.microsoft.com/office/drawing/2014/main" id="{CD60A79E-236E-2CED-43EC-6B0613D3FBD0}"/>
              </a:ext>
            </a:extLst>
          </p:cNvPr>
          <p:cNvPicPr>
            <a:picLocks noGrp="1" noChangeAspect="1"/>
          </p:cNvPicPr>
          <p:nvPr>
            <p:ph sz="quarter" idx="13"/>
          </p:nvPr>
        </p:nvPicPr>
        <p:blipFill>
          <a:blip r:embed="rId2"/>
          <a:stretch>
            <a:fillRect/>
          </a:stretch>
        </p:blipFill>
        <p:spPr>
          <a:xfrm>
            <a:off x="6226628" y="468086"/>
            <a:ext cx="5823857" cy="6150428"/>
          </a:xfrm>
          <a:prstGeom prst="rect">
            <a:avLst/>
          </a:prstGeom>
        </p:spPr>
      </p:pic>
      <p:sp>
        <p:nvSpPr>
          <p:cNvPr id="4" name="Text Placeholder 3">
            <a:extLst>
              <a:ext uri="{FF2B5EF4-FFF2-40B4-BE49-F238E27FC236}">
                <a16:creationId xmlns:a16="http://schemas.microsoft.com/office/drawing/2014/main" id="{EB97E87C-74E3-4078-A2EE-0ADA53316496}"/>
              </a:ext>
            </a:extLst>
          </p:cNvPr>
          <p:cNvSpPr>
            <a:spLocks noGrp="1"/>
          </p:cNvSpPr>
          <p:nvPr>
            <p:ph type="body" sz="half" idx="2"/>
          </p:nvPr>
        </p:nvSpPr>
        <p:spPr>
          <a:xfrm>
            <a:off x="65314" y="2077681"/>
            <a:ext cx="5823857" cy="3158348"/>
          </a:xfrm>
        </p:spPr>
        <p:txBody>
          <a:bodyPr>
            <a:noAutofit/>
          </a:bodyPr>
          <a:lstStyle/>
          <a:p>
            <a:pPr algn="just"/>
            <a:r>
              <a:rPr lang="en-US" sz="2400" cap="none" dirty="0">
                <a:latin typeface="Arial" panose="020B0604020202020204" pitchFamily="34" charset="0"/>
                <a:cs typeface="Arial" panose="020B0604020202020204" pitchFamily="34" charset="0"/>
              </a:rPr>
              <a:t>The sales trend chart shows that revenue was highest in 2023, after which it gradually declined through 2024 and 2025. This downward trend suggests that the business may need to review its sales or marketing strategies to improve future performance.</a:t>
            </a:r>
          </a:p>
        </p:txBody>
      </p:sp>
    </p:spTree>
    <p:extLst>
      <p:ext uri="{BB962C8B-B14F-4D97-AF65-F5344CB8AC3E}">
        <p14:creationId xmlns:p14="http://schemas.microsoft.com/office/powerpoint/2010/main" val="4280884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4FD7D-A75E-AB31-F437-EBE014BF7140}"/>
              </a:ext>
            </a:extLst>
          </p:cNvPr>
          <p:cNvSpPr>
            <a:spLocks noGrp="1"/>
          </p:cNvSpPr>
          <p:nvPr>
            <p:ph type="title"/>
          </p:nvPr>
        </p:nvSpPr>
        <p:spPr>
          <a:xfrm>
            <a:off x="0" y="609600"/>
            <a:ext cx="6096000" cy="1328057"/>
          </a:xfrm>
        </p:spPr>
        <p:txBody>
          <a:bodyPr>
            <a:noAutofit/>
          </a:bodyPr>
          <a:lstStyle/>
          <a:p>
            <a:r>
              <a:rPr lang="en-US" sz="4000" dirty="0">
                <a:latin typeface="Arial Black" panose="020B0A04020102020204" pitchFamily="34" charset="0"/>
              </a:rPr>
              <a:t>Product with Highest Revenue</a:t>
            </a:r>
          </a:p>
        </p:txBody>
      </p:sp>
      <p:pic>
        <p:nvPicPr>
          <p:cNvPr id="6" name="Content Placeholder 5">
            <a:extLst>
              <a:ext uri="{FF2B5EF4-FFF2-40B4-BE49-F238E27FC236}">
                <a16:creationId xmlns:a16="http://schemas.microsoft.com/office/drawing/2014/main" id="{9C63A83F-E57E-7B9D-D89F-F87B00B3F22D}"/>
              </a:ext>
            </a:extLst>
          </p:cNvPr>
          <p:cNvPicPr>
            <a:picLocks noGrp="1" noChangeAspect="1"/>
          </p:cNvPicPr>
          <p:nvPr>
            <p:ph sz="quarter" idx="13"/>
          </p:nvPr>
        </p:nvPicPr>
        <p:blipFill>
          <a:blip r:embed="rId2"/>
          <a:stretch>
            <a:fillRect/>
          </a:stretch>
        </p:blipFill>
        <p:spPr>
          <a:xfrm>
            <a:off x="6226143" y="609600"/>
            <a:ext cx="5645440" cy="5377543"/>
          </a:xfrm>
          <a:prstGeom prst="rect">
            <a:avLst/>
          </a:prstGeom>
        </p:spPr>
      </p:pic>
      <p:sp>
        <p:nvSpPr>
          <p:cNvPr id="4" name="Text Placeholder 3">
            <a:extLst>
              <a:ext uri="{FF2B5EF4-FFF2-40B4-BE49-F238E27FC236}">
                <a16:creationId xmlns:a16="http://schemas.microsoft.com/office/drawing/2014/main" id="{58F0ECF4-44A3-0F85-D45E-40455D19CAD7}"/>
              </a:ext>
            </a:extLst>
          </p:cNvPr>
          <p:cNvSpPr>
            <a:spLocks noGrp="1"/>
          </p:cNvSpPr>
          <p:nvPr>
            <p:ph type="body" sz="half" idx="2"/>
          </p:nvPr>
        </p:nvSpPr>
        <p:spPr>
          <a:xfrm>
            <a:off x="320417" y="2208309"/>
            <a:ext cx="5748144" cy="3158348"/>
          </a:xfrm>
        </p:spPr>
        <p:txBody>
          <a:bodyPr>
            <a:noAutofit/>
          </a:bodyPr>
          <a:lstStyle/>
          <a:p>
            <a:pPr algn="just"/>
            <a:r>
              <a:rPr lang="en-US" sz="2400" cap="none" dirty="0">
                <a:latin typeface="Arial" panose="020B0604020202020204" pitchFamily="34" charset="0"/>
                <a:cs typeface="Arial" panose="020B0604020202020204" pitchFamily="34" charset="0"/>
              </a:rPr>
              <a:t>The product revenue analysis reveals that chair generated the highest revenue, contributing approximately 0.20M to the total sales. This makes it the strongest-performing product in terms of financial contribution.</a:t>
            </a:r>
          </a:p>
        </p:txBody>
      </p:sp>
    </p:spTree>
    <p:extLst>
      <p:ext uri="{BB962C8B-B14F-4D97-AF65-F5344CB8AC3E}">
        <p14:creationId xmlns:p14="http://schemas.microsoft.com/office/powerpoint/2010/main" val="3553959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702C5-CCEB-BB1F-5FAD-CE1E13E0B753}"/>
              </a:ext>
            </a:extLst>
          </p:cNvPr>
          <p:cNvSpPr>
            <a:spLocks noGrp="1"/>
          </p:cNvSpPr>
          <p:nvPr>
            <p:ph type="title"/>
          </p:nvPr>
        </p:nvSpPr>
        <p:spPr>
          <a:xfrm>
            <a:off x="0" y="609600"/>
            <a:ext cx="5714999" cy="1524000"/>
          </a:xfrm>
        </p:spPr>
        <p:txBody>
          <a:bodyPr>
            <a:noAutofit/>
          </a:bodyPr>
          <a:lstStyle/>
          <a:p>
            <a:r>
              <a:rPr lang="en-US" sz="4000" dirty="0">
                <a:latin typeface="Arial Black" panose="020B0A04020102020204" pitchFamily="34" charset="0"/>
              </a:rPr>
              <a:t>Payment Method Analysis</a:t>
            </a:r>
          </a:p>
        </p:txBody>
      </p:sp>
      <p:pic>
        <p:nvPicPr>
          <p:cNvPr id="6" name="Content Placeholder 5">
            <a:extLst>
              <a:ext uri="{FF2B5EF4-FFF2-40B4-BE49-F238E27FC236}">
                <a16:creationId xmlns:a16="http://schemas.microsoft.com/office/drawing/2014/main" id="{ABE44AE4-CED8-8751-472C-CDAAE4C9C7E4}"/>
              </a:ext>
            </a:extLst>
          </p:cNvPr>
          <p:cNvPicPr>
            <a:picLocks noGrp="1" noChangeAspect="1"/>
          </p:cNvPicPr>
          <p:nvPr>
            <p:ph sz="quarter" idx="13"/>
          </p:nvPr>
        </p:nvPicPr>
        <p:blipFill>
          <a:blip r:embed="rId2"/>
          <a:stretch>
            <a:fillRect/>
          </a:stretch>
        </p:blipFill>
        <p:spPr>
          <a:xfrm>
            <a:off x="6286500" y="794656"/>
            <a:ext cx="5704116" cy="5834743"/>
          </a:xfrm>
          <a:prstGeom prst="rect">
            <a:avLst/>
          </a:prstGeom>
        </p:spPr>
      </p:pic>
      <p:sp>
        <p:nvSpPr>
          <p:cNvPr id="4" name="Text Placeholder 3">
            <a:extLst>
              <a:ext uri="{FF2B5EF4-FFF2-40B4-BE49-F238E27FC236}">
                <a16:creationId xmlns:a16="http://schemas.microsoft.com/office/drawing/2014/main" id="{4BB5DC9E-B564-00B5-1817-F88EBB3311D6}"/>
              </a:ext>
            </a:extLst>
          </p:cNvPr>
          <p:cNvSpPr>
            <a:spLocks noGrp="1"/>
          </p:cNvSpPr>
          <p:nvPr>
            <p:ph type="body" sz="half" idx="2"/>
          </p:nvPr>
        </p:nvSpPr>
        <p:spPr>
          <a:xfrm>
            <a:off x="201384" y="2240966"/>
            <a:ext cx="5807530" cy="4007434"/>
          </a:xfrm>
        </p:spPr>
        <p:txBody>
          <a:bodyPr>
            <a:noAutofit/>
          </a:bodyPr>
          <a:lstStyle/>
          <a:p>
            <a:pPr algn="just"/>
            <a:r>
              <a:rPr lang="en-US" sz="2400" cap="none" dirty="0">
                <a:latin typeface="Arial" panose="020B0604020202020204" pitchFamily="34" charset="0"/>
                <a:cs typeface="Arial" panose="020B0604020202020204" pitchFamily="34" charset="0"/>
              </a:rPr>
              <a:t>The payment method chart shows that customers make use of different payment options, with gift card being the most frequently used method with 258 transactions, followed by credit card with 246 transactions. The relatively balanced distribution suggests that customers appreciate having multiple payment options available.</a:t>
            </a:r>
          </a:p>
        </p:txBody>
      </p:sp>
    </p:spTree>
    <p:extLst>
      <p:ext uri="{BB962C8B-B14F-4D97-AF65-F5344CB8AC3E}">
        <p14:creationId xmlns:p14="http://schemas.microsoft.com/office/powerpoint/2010/main" val="1586030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FD2A8-FD28-7432-7660-676B203601F5}"/>
              </a:ext>
            </a:extLst>
          </p:cNvPr>
          <p:cNvSpPr>
            <a:spLocks noGrp="1"/>
          </p:cNvSpPr>
          <p:nvPr>
            <p:ph type="title"/>
          </p:nvPr>
        </p:nvSpPr>
        <p:spPr>
          <a:xfrm>
            <a:off x="257830" y="609600"/>
            <a:ext cx="5990569" cy="1393371"/>
          </a:xfrm>
        </p:spPr>
        <p:txBody>
          <a:bodyPr>
            <a:noAutofit/>
          </a:bodyPr>
          <a:lstStyle/>
          <a:p>
            <a:r>
              <a:rPr lang="en-US" sz="4000" dirty="0">
                <a:latin typeface="Arial Black" panose="020B0A04020102020204" pitchFamily="34" charset="0"/>
              </a:rPr>
              <a:t>Order Status Analysis</a:t>
            </a:r>
          </a:p>
        </p:txBody>
      </p:sp>
      <p:pic>
        <p:nvPicPr>
          <p:cNvPr id="6" name="Content Placeholder 5">
            <a:extLst>
              <a:ext uri="{FF2B5EF4-FFF2-40B4-BE49-F238E27FC236}">
                <a16:creationId xmlns:a16="http://schemas.microsoft.com/office/drawing/2014/main" id="{15F08DE7-17CB-B4C9-669D-FD1A6076D8A5}"/>
              </a:ext>
            </a:extLst>
          </p:cNvPr>
          <p:cNvPicPr>
            <a:picLocks noGrp="1" noChangeAspect="1"/>
          </p:cNvPicPr>
          <p:nvPr>
            <p:ph sz="quarter" idx="13"/>
          </p:nvPr>
        </p:nvPicPr>
        <p:blipFill>
          <a:blip r:embed="rId2"/>
          <a:stretch>
            <a:fillRect/>
          </a:stretch>
        </p:blipFill>
        <p:spPr>
          <a:xfrm>
            <a:off x="6555443" y="849086"/>
            <a:ext cx="5378726" cy="5551713"/>
          </a:xfrm>
          <a:prstGeom prst="rect">
            <a:avLst/>
          </a:prstGeom>
        </p:spPr>
      </p:pic>
      <p:sp>
        <p:nvSpPr>
          <p:cNvPr id="4" name="Text Placeholder 3">
            <a:extLst>
              <a:ext uri="{FF2B5EF4-FFF2-40B4-BE49-F238E27FC236}">
                <a16:creationId xmlns:a16="http://schemas.microsoft.com/office/drawing/2014/main" id="{24BBAFC6-2F95-C75F-96F2-140E8F480609}"/>
              </a:ext>
            </a:extLst>
          </p:cNvPr>
          <p:cNvSpPr>
            <a:spLocks noGrp="1"/>
          </p:cNvSpPr>
          <p:nvPr>
            <p:ph type="body" sz="half" idx="2"/>
          </p:nvPr>
        </p:nvSpPr>
        <p:spPr>
          <a:xfrm>
            <a:off x="257830" y="2186537"/>
            <a:ext cx="5990569" cy="4214261"/>
          </a:xfrm>
        </p:spPr>
        <p:txBody>
          <a:bodyPr>
            <a:noAutofit/>
          </a:bodyPr>
          <a:lstStyle/>
          <a:p>
            <a:pPr algn="just"/>
            <a:r>
              <a:rPr lang="en-US" sz="2400" cap="none" dirty="0">
                <a:latin typeface="Arial" panose="020B0604020202020204" pitchFamily="34" charset="0"/>
                <a:cs typeface="Arial" panose="020B0604020202020204" pitchFamily="34" charset="0"/>
              </a:rPr>
              <a:t>The order status chart provides an overview of the order fulfillment process. Cancelled orders recorded the highest count with 250 orders, while delivered orders accounted for 231 orders. The close distribution across the different categories suggests that there is an opportunity to improve order processing and reduce cancellations.</a:t>
            </a:r>
          </a:p>
        </p:txBody>
      </p:sp>
    </p:spTree>
    <p:extLst>
      <p:ext uri="{BB962C8B-B14F-4D97-AF65-F5344CB8AC3E}">
        <p14:creationId xmlns:p14="http://schemas.microsoft.com/office/powerpoint/2010/main" val="2571252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1C14F-3074-78EE-1259-5DD5A22D244B}"/>
              </a:ext>
            </a:extLst>
          </p:cNvPr>
          <p:cNvSpPr>
            <a:spLocks noGrp="1"/>
          </p:cNvSpPr>
          <p:nvPr>
            <p:ph type="title"/>
          </p:nvPr>
        </p:nvSpPr>
        <p:spPr>
          <a:xfrm>
            <a:off x="413032" y="48123"/>
            <a:ext cx="10364451" cy="1596177"/>
          </a:xfrm>
        </p:spPr>
        <p:txBody>
          <a:bodyPr>
            <a:normAutofit/>
          </a:bodyPr>
          <a:lstStyle/>
          <a:p>
            <a:r>
              <a:rPr lang="en-US" sz="4000" dirty="0">
                <a:latin typeface="Arial Black" panose="020B0A04020102020204" pitchFamily="34" charset="0"/>
              </a:rPr>
              <a:t> Limitations</a:t>
            </a:r>
          </a:p>
        </p:txBody>
      </p:sp>
      <p:sp>
        <p:nvSpPr>
          <p:cNvPr id="4" name="TextBox 3">
            <a:extLst>
              <a:ext uri="{FF2B5EF4-FFF2-40B4-BE49-F238E27FC236}">
                <a16:creationId xmlns:a16="http://schemas.microsoft.com/office/drawing/2014/main" id="{1A607D05-640C-D537-2988-FBB06E28F5CA}"/>
              </a:ext>
            </a:extLst>
          </p:cNvPr>
          <p:cNvSpPr txBox="1"/>
          <p:nvPr/>
        </p:nvSpPr>
        <p:spPr>
          <a:xfrm>
            <a:off x="816428" y="1833380"/>
            <a:ext cx="11375572" cy="1938992"/>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	•	The analysis was conducted using only the data provided.</a:t>
            </a:r>
          </a:p>
          <a:p>
            <a:pPr algn="just"/>
            <a:r>
              <a:rPr lang="en-US" sz="2400" dirty="0">
                <a:latin typeface="Arial" panose="020B0604020202020204" pitchFamily="34" charset="0"/>
                <a:cs typeface="Arial" panose="020B0604020202020204" pitchFamily="34" charset="0"/>
              </a:rPr>
              <a:t>	•	The dataset does not include additional details, such as the reasons for 			cancelled or returned orders.</a:t>
            </a:r>
          </a:p>
          <a:p>
            <a:pPr algn="just"/>
            <a:r>
              <a:rPr lang="en-US" sz="2400" dirty="0">
                <a:latin typeface="Arial" panose="020B0604020202020204" pitchFamily="34" charset="0"/>
                <a:cs typeface="Arial" panose="020B0604020202020204" pitchFamily="34" charset="0"/>
              </a:rPr>
              <a:t>	•	The insights and conclusions are limited to the information available in the 			dataset and may change if additional data is provided.</a:t>
            </a:r>
          </a:p>
        </p:txBody>
      </p:sp>
    </p:spTree>
    <p:extLst>
      <p:ext uri="{BB962C8B-B14F-4D97-AF65-F5344CB8AC3E}">
        <p14:creationId xmlns:p14="http://schemas.microsoft.com/office/powerpoint/2010/main" val="1761145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F70F4-AF9E-D42D-FC38-9DEB92DB6BC8}"/>
              </a:ext>
            </a:extLst>
          </p:cNvPr>
          <p:cNvSpPr>
            <a:spLocks noGrp="1"/>
          </p:cNvSpPr>
          <p:nvPr>
            <p:ph type="title"/>
          </p:nvPr>
        </p:nvSpPr>
        <p:spPr>
          <a:xfrm>
            <a:off x="913775" y="618517"/>
            <a:ext cx="10364451" cy="1123197"/>
          </a:xfrm>
        </p:spPr>
        <p:txBody>
          <a:bodyPr>
            <a:normAutofit/>
          </a:bodyPr>
          <a:lstStyle/>
          <a:p>
            <a:r>
              <a:rPr lang="en-US" sz="4000" dirty="0">
                <a:latin typeface="Arial Black" panose="020B0A04020102020204" pitchFamily="34" charset="0"/>
              </a:rPr>
              <a:t>Recommendations</a:t>
            </a:r>
          </a:p>
        </p:txBody>
      </p:sp>
      <p:sp>
        <p:nvSpPr>
          <p:cNvPr id="4" name="TextBox 3">
            <a:extLst>
              <a:ext uri="{FF2B5EF4-FFF2-40B4-BE49-F238E27FC236}">
                <a16:creationId xmlns:a16="http://schemas.microsoft.com/office/drawing/2014/main" id="{7F96BD28-5CBF-DB2D-4E87-419F01CD0D89}"/>
              </a:ext>
            </a:extLst>
          </p:cNvPr>
          <p:cNvSpPr txBox="1"/>
          <p:nvPr/>
        </p:nvSpPr>
        <p:spPr>
          <a:xfrm>
            <a:off x="283028" y="1905506"/>
            <a:ext cx="11625943" cy="3785652"/>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	•	Increase marketing efforts through Instagram, as it currently generates the</a:t>
            </a:r>
          </a:p>
          <a:p>
            <a:pPr algn="just"/>
            <a:r>
              <a:rPr lang="en-US" sz="2400" dirty="0">
                <a:latin typeface="Arial" panose="020B0604020202020204" pitchFamily="34" charset="0"/>
                <a:cs typeface="Arial" panose="020B0604020202020204" pitchFamily="34" charset="0"/>
              </a:rPr>
              <a:t>		highest number of customer referrals.</a:t>
            </a:r>
          </a:p>
          <a:p>
            <a:pPr algn="just"/>
            <a:r>
              <a:rPr lang="en-US" sz="2400" dirty="0">
                <a:latin typeface="Arial" panose="020B0604020202020204" pitchFamily="34" charset="0"/>
                <a:cs typeface="Arial" panose="020B0604020202020204" pitchFamily="34" charset="0"/>
              </a:rPr>
              <a:t>	•	Ensure adequate stock is available for Chair, Printer, and Laptop, as they are 			the top-performing products.	</a:t>
            </a:r>
          </a:p>
          <a:p>
            <a:pPr algn="just"/>
            <a:r>
              <a:rPr lang="en-US" sz="2400" dirty="0">
                <a:latin typeface="Arial" panose="020B0604020202020204" pitchFamily="34" charset="0"/>
                <a:cs typeface="Arial" panose="020B0604020202020204" pitchFamily="34" charset="0"/>
              </a:rPr>
              <a:t>	•	Investigate the factors contributing to the decline in sales and develop 					strategies to improve revenue.</a:t>
            </a:r>
          </a:p>
          <a:p>
            <a:pPr algn="just"/>
            <a:r>
              <a:rPr lang="en-US" sz="2400" dirty="0">
                <a:latin typeface="Arial" panose="020B0604020202020204" pitchFamily="34" charset="0"/>
                <a:cs typeface="Arial" panose="020B0604020202020204" pitchFamily="34" charset="0"/>
              </a:rPr>
              <a:t>	•	Review the order management and fulfillment process to reduce the number 			of cancelled orders.</a:t>
            </a:r>
          </a:p>
          <a:p>
            <a:pPr algn="just"/>
            <a:r>
              <a:rPr lang="en-US" sz="2400" dirty="0">
                <a:latin typeface="Arial" panose="020B0604020202020204" pitchFamily="34" charset="0"/>
                <a:cs typeface="Arial" panose="020B0604020202020204" pitchFamily="34" charset="0"/>
              </a:rPr>
              <a:t>	•	Continue providing multiple payment options to maintain customer 						convenience and satisfaction.</a:t>
            </a:r>
          </a:p>
        </p:txBody>
      </p:sp>
    </p:spTree>
    <p:extLst>
      <p:ext uri="{BB962C8B-B14F-4D97-AF65-F5344CB8AC3E}">
        <p14:creationId xmlns:p14="http://schemas.microsoft.com/office/powerpoint/2010/main" val="2856453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C34BB-AB6F-CDB1-212F-70886B730D7B}"/>
              </a:ext>
            </a:extLst>
          </p:cNvPr>
          <p:cNvSpPr>
            <a:spLocks noGrp="1"/>
          </p:cNvSpPr>
          <p:nvPr>
            <p:ph type="title"/>
          </p:nvPr>
        </p:nvSpPr>
        <p:spPr/>
        <p:txBody>
          <a:bodyPr>
            <a:normAutofit/>
          </a:bodyPr>
          <a:lstStyle/>
          <a:p>
            <a:r>
              <a:rPr lang="en-US" sz="4000" dirty="0">
                <a:latin typeface="Arial Black" panose="020B0A04020102020204" pitchFamily="34" charset="0"/>
              </a:rPr>
              <a:t>Conclusion</a:t>
            </a:r>
          </a:p>
        </p:txBody>
      </p:sp>
      <p:sp>
        <p:nvSpPr>
          <p:cNvPr id="4" name="TextBox 3">
            <a:extLst>
              <a:ext uri="{FF2B5EF4-FFF2-40B4-BE49-F238E27FC236}">
                <a16:creationId xmlns:a16="http://schemas.microsoft.com/office/drawing/2014/main" id="{CA7093A5-FF38-CE6F-278E-2B69840DD7DD}"/>
              </a:ext>
            </a:extLst>
          </p:cNvPr>
          <p:cNvSpPr txBox="1"/>
          <p:nvPr/>
        </p:nvSpPr>
        <p:spPr>
          <a:xfrm>
            <a:off x="283028" y="2214694"/>
            <a:ext cx="11625943" cy="2677656"/>
          </a:xfrm>
          <a:prstGeom prst="rect">
            <a:avLst/>
          </a:prstGeom>
          <a:noFill/>
        </p:spPr>
        <p:txBody>
          <a:bodyPr wrap="square">
            <a:spAutoFit/>
          </a:bodyPr>
          <a:lstStyle/>
          <a:p>
            <a:pPr algn="just"/>
            <a:r>
              <a:rPr lang="en-US" sz="2400" dirty="0">
                <a:latin typeface="Arial" panose="020B0604020202020204" pitchFamily="34" charset="0"/>
                <a:cs typeface="Arial" panose="020B0604020202020204" pitchFamily="34" charset="0"/>
              </a:rPr>
              <a:t>This dashboard provides a clear view of the business’s sales performance, customer behavior, and operational trends. The analysis highlights that Chair is the leading product in both sales volume and revenue generation, while Instagram is the strongest referral channel. It also reveals a downward sales trend and a relatively high number of cancelled orders, both of which present opportunities for improvement. By acting on these insights, the business can make better decisions to improve performance, strengthen customer satisfaction, and support future growth.</a:t>
            </a:r>
          </a:p>
        </p:txBody>
      </p:sp>
    </p:spTree>
    <p:extLst>
      <p:ext uri="{BB962C8B-B14F-4D97-AF65-F5344CB8AC3E}">
        <p14:creationId xmlns:p14="http://schemas.microsoft.com/office/powerpoint/2010/main" val="1553357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25D4E6-1B3D-E361-DFA5-BD55C1D2345C}"/>
              </a:ext>
            </a:extLst>
          </p:cNvPr>
          <p:cNvSpPr txBox="1"/>
          <p:nvPr/>
        </p:nvSpPr>
        <p:spPr>
          <a:xfrm>
            <a:off x="2373085" y="2002971"/>
            <a:ext cx="7957457" cy="1200329"/>
          </a:xfrm>
          <a:prstGeom prst="rect">
            <a:avLst/>
          </a:prstGeom>
          <a:noFill/>
        </p:spPr>
        <p:txBody>
          <a:bodyPr wrap="square" rtlCol="0">
            <a:spAutoFit/>
          </a:bodyPr>
          <a:lstStyle/>
          <a:p>
            <a:pPr algn="ctr"/>
            <a:r>
              <a:rPr lang="en-US" sz="7200" dirty="0">
                <a:latin typeface="Arial Black" panose="020B0A04020102020204" pitchFamily="34" charset="0"/>
              </a:rPr>
              <a:t>THANK YOU…</a:t>
            </a:r>
          </a:p>
        </p:txBody>
      </p:sp>
    </p:spTree>
    <p:extLst>
      <p:ext uri="{BB962C8B-B14F-4D97-AF65-F5344CB8AC3E}">
        <p14:creationId xmlns:p14="http://schemas.microsoft.com/office/powerpoint/2010/main" val="1726602345"/>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123</TotalTime>
  <Words>833</Words>
  <Application>Microsoft Office PowerPoint</Application>
  <PresentationFormat>Widescreen</PresentationFormat>
  <Paragraphs>45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Arial Black</vt:lpstr>
      <vt:lpstr>Tw Cen MT</vt:lpstr>
      <vt:lpstr>Droplet</vt:lpstr>
      <vt:lpstr>SALES PERFORMANCE DASHBOARD  </vt:lpstr>
      <vt:lpstr>Methodology</vt:lpstr>
      <vt:lpstr>PowerPoint Presentation</vt:lpstr>
      <vt:lpstr>Dashboard Overview </vt:lpstr>
      <vt:lpstr>KPI Summary</vt:lpstr>
      <vt:lpstr>Best-Selling Product</vt:lpstr>
      <vt:lpstr>Referrer Source Performance</vt:lpstr>
      <vt:lpstr>SALES TREND</vt:lpstr>
      <vt:lpstr>Product with Highest Revenue</vt:lpstr>
      <vt:lpstr>Payment Method Analysis</vt:lpstr>
      <vt:lpstr>Order Status Analysis</vt:lpstr>
      <vt:lpstr> Limitations</vt:lpstr>
      <vt:lpstr>Recommendations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Adeyemi Rukayat Adekunmi</dc:creator>
  <cp:lastModifiedBy>Adeyemi Rukayat Adekunmi</cp:lastModifiedBy>
  <cp:revision>6</cp:revision>
  <dcterms:created xsi:type="dcterms:W3CDTF">2026-06-12T10:13:30Z</dcterms:created>
  <dcterms:modified xsi:type="dcterms:W3CDTF">2026-06-12T12:17:25Z</dcterms:modified>
</cp:coreProperties>
</file>